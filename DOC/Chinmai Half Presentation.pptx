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6" r:id="rId11"/>
    <p:sldId id="268" r:id="rId12"/>
    <p:sldId id="269" r:id="rId13"/>
    <p:sldId id="272" r:id="rId14"/>
    <p:sldId id="273" r:id="rId15"/>
    <p:sldId id="274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85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5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2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62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64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5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41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70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4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7984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51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8542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887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149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26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81D37-AF05-461D-B780-20E31628E5CB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741D505-BB22-4189-82EC-963450A7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1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E195-8CC9-4E2D-B554-0E37A29E9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279" y="899534"/>
            <a:ext cx="8915399" cy="2262781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MINIPROJECT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VACCINE ON TIME</a:t>
            </a:r>
            <a:endParaRPr lang="en-IN" b="1" u="sng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FF5AB-AAD6-0EFC-E5C7-ED8311FCC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374" y="4084981"/>
            <a:ext cx="3086169" cy="1126283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Submitted To:</a:t>
            </a:r>
          </a:p>
          <a:p>
            <a:r>
              <a:rPr lang="en-US" b="1" dirty="0">
                <a:solidFill>
                  <a:schemeClr val="tx1"/>
                </a:solidFill>
              </a:rPr>
              <a:t>Soumya John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ADB0C-70D6-7E90-6C91-AFC41CD57D5A}"/>
              </a:ext>
            </a:extLst>
          </p:cNvPr>
          <p:cNvSpPr txBox="1"/>
          <p:nvPr/>
        </p:nvSpPr>
        <p:spPr>
          <a:xfrm>
            <a:off x="9110870" y="4084981"/>
            <a:ext cx="27663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Submitted By: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Chinmai Unni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Roll No:13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Third Year B.C.A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45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C8B4-298B-AA9F-9B49-CF0C86D7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7" y="624110"/>
            <a:ext cx="5349924" cy="93037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u="sng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F0F5B-EC4A-82F9-5BC0-E68934D65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454" y="1805607"/>
            <a:ext cx="10679527" cy="44282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 </a:t>
            </a:r>
            <a:r>
              <a:rPr lang="en-US" sz="2000" b="1" dirty="0"/>
              <a:t>Digital technology has changed many sectors, including healthcare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Managing vaccination schedules is one area that can greatly benefit.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Our project is called "VACCINE ON TIME - Vaccination Booking and Scheduler."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It helps solve problems with traditional vaccination booking systems.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The platform is easy to use for everyone, including parents and adults.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It allows users to book vaccination appointments quickly.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92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D0C6-BD7B-B641-7D7E-E11DFABF3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055" y="1461052"/>
            <a:ext cx="9781761" cy="4641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It also keeps track of all vaccination records in one place.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Healthcare providers can manage appointments more efficiently.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This reduces their workload and improves communication with patients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It encourages more people to get vaccinated on time.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The project supports public health goals by making vaccinations easier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We aim to increase the success of vaccination campaigns.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Ultimately, our goal is to create a healthier society for all ages.</a:t>
            </a:r>
            <a:endParaRPr lang="en-IN" sz="20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81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5A4F-1FB5-B331-4047-DBF5BFDE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160" y="634049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u="sng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BA5FE-35AE-ABD8-F3BC-AC3F1FD02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8440" y="1540189"/>
            <a:ext cx="8915400" cy="3777622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Develop a user-friendly platform to simplify booking and scheduling vaccination appointments for all ages.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Maintain an organized and accessible record of vaccination history for easy access to essential health information.</a:t>
            </a:r>
            <a:endParaRPr lang="en-IN" sz="20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Reduce administrative burdens for healthcare providers by improving appointment management and communication with patients.</a:t>
            </a:r>
            <a:endParaRPr lang="en-IN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08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12B3-BDCF-1463-E357-DE20E65C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88" y="761203"/>
            <a:ext cx="3718423" cy="807125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TOOLS USED</a:t>
            </a:r>
            <a:endParaRPr lang="en-IN" sz="4400" b="1" u="sng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D1C85-F89D-F179-743F-F0138329DEDB}"/>
              </a:ext>
            </a:extLst>
          </p:cNvPr>
          <p:cNvSpPr txBox="1"/>
          <p:nvPr/>
        </p:nvSpPr>
        <p:spPr>
          <a:xfrm>
            <a:off x="3023154" y="2051328"/>
            <a:ext cx="4591878" cy="2888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HTML5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CSS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JavaScript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PHP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9846D-C9FC-B0EC-EB11-9C8E0BC21909}"/>
              </a:ext>
            </a:extLst>
          </p:cNvPr>
          <p:cNvSpPr txBox="1"/>
          <p:nvPr/>
        </p:nvSpPr>
        <p:spPr>
          <a:xfrm>
            <a:off x="6788425" y="2074653"/>
            <a:ext cx="3011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MySQL</a:t>
            </a:r>
            <a:endParaRPr lang="en-IN" sz="2000" b="1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40CDB6-FD82-F810-60FB-3D373764D488}"/>
              </a:ext>
            </a:extLst>
          </p:cNvPr>
          <p:cNvSpPr/>
          <p:nvPr/>
        </p:nvSpPr>
        <p:spPr>
          <a:xfrm>
            <a:off x="2035864" y="596349"/>
            <a:ext cx="8120269" cy="5357191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85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E3CF-191A-03A2-3FC7-C737DC2A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299" y="246015"/>
            <a:ext cx="2297127" cy="747490"/>
          </a:xfrm>
          <a:ln w="28575">
            <a:solidFill>
              <a:schemeClr val="accent1"/>
            </a:solidFill>
            <a:prstDash val="dash"/>
          </a:ln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u="sng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0908-2BEB-DB21-2D01-93C33DEB9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212575"/>
            <a:ext cx="9144000" cy="5025665"/>
          </a:xfrm>
          <a:ln w="38100">
            <a:solidFill>
              <a:schemeClr val="accent2">
                <a:lumMod val="50000"/>
              </a:schemeClr>
            </a:solidFill>
            <a:prstDash val="solid"/>
          </a:ln>
        </p:spPr>
        <p:txBody>
          <a:bodyPr/>
          <a:lstStyle/>
          <a:p>
            <a:pPr marR="6985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</a:pP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1: ADMIN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69850" lvl="0" indent="-34290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This module is for administrator where it ensures the platform runs smoothly by managing system, users and all the settings of the website.</a:t>
            </a:r>
            <a:endParaRPr lang="en-IN" sz="2000" b="1" dirty="0">
              <a:effectLst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Functionalities of admin includes</a:t>
            </a:r>
            <a:r>
              <a:rPr lang="en-US" sz="2000" b="1" dirty="0">
                <a:effectLst/>
                <a:ea typeface="Times New Roman" panose="02020603050405020304" pitchFamily="18" charset="0"/>
              </a:rPr>
              <a:t>:</a:t>
            </a:r>
            <a:endParaRPr lang="en-IN" sz="2000" b="1" dirty="0">
              <a:effectLst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Login</a:t>
            </a:r>
            <a:endParaRPr lang="en-IN" sz="2000" b="1" dirty="0">
              <a:effectLst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Add location details</a:t>
            </a:r>
            <a:endParaRPr lang="en-IN" sz="2000" b="1" dirty="0">
              <a:effectLst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Registration rules</a:t>
            </a:r>
            <a:endParaRPr lang="en-IN" sz="2000" b="1" dirty="0">
              <a:effectLst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Verification of hospital and user</a:t>
            </a:r>
            <a:endParaRPr lang="en-IN" sz="2000" b="1" dirty="0">
              <a:effectLst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82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15714-F167-3C4A-BD45-FA8DB2F94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532" y="983974"/>
            <a:ext cx="8915400" cy="5227984"/>
          </a:xfrm>
          <a:ln w="38100">
            <a:solidFill>
              <a:schemeClr val="accent2">
                <a:lumMod val="5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marR="69850" indent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2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2: HOSPITAL CENTER</a:t>
            </a:r>
            <a:endParaRPr lang="en-IN" sz="2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69850" lvl="0" indent="-34290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This module is for hospital center which can add available vaccines to the website. 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200" b="1" u="sng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Functionalities of hospital center includes:</a:t>
            </a:r>
            <a:endParaRPr lang="en-IN" sz="2200" b="1" u="sng" dirty="0"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Login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Settings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Add vaccines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View user order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Update status 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effectLst/>
                <a:latin typeface="+mj-lt"/>
                <a:ea typeface="Times New Roman" panose="02020603050405020304" pitchFamily="18" charset="0"/>
              </a:rPr>
              <a:t>Logout</a:t>
            </a:r>
            <a:endParaRPr lang="en-IN" sz="22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982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AA68-E147-C90E-C8F4-CAA7E1FC3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044" y="342900"/>
            <a:ext cx="9616177" cy="6172200"/>
          </a:xfrm>
          <a:ln w="38100">
            <a:solidFill>
              <a:schemeClr val="accent2">
                <a:lumMod val="50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0" marR="69850" indent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3: USER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69850" lvl="0" indent="-34290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This module is for users who can book vaccines and access vaccination records.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The functionalities of user includes</a:t>
            </a:r>
            <a:r>
              <a:rPr lang="en-US" sz="2400" b="1" dirty="0">
                <a:solidFill>
                  <a:srgbClr val="002060"/>
                </a:solidFill>
                <a:effectLst/>
                <a:latin typeface="+mj-lt"/>
                <a:ea typeface="Times New Roman" panose="02020603050405020304" pitchFamily="18" charset="0"/>
              </a:rPr>
              <a:t>:</a:t>
            </a:r>
            <a:endParaRPr lang="en-IN" sz="2400" b="1" dirty="0">
              <a:solidFill>
                <a:srgbClr val="002060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Login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Settings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Search vaccines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Book vaccines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Payment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View booking status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Acknowledgement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R="69850" lvl="0" algn="just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Review or feedback</a:t>
            </a:r>
            <a:endParaRPr lang="en-IN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53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7385-9AB3-6E93-5F53-013016B2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402" y="236484"/>
            <a:ext cx="3817815" cy="747490"/>
          </a:xfrm>
          <a:ln w="28575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b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DESIGN</a:t>
            </a:r>
            <a:endParaRPr lang="en-IN" b="1" u="sng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60222C-803E-4734-C84C-D4ED842DE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539126"/>
              </p:ext>
            </p:extLst>
          </p:nvPr>
        </p:nvGraphicFramePr>
        <p:xfrm>
          <a:off x="1145279" y="1996772"/>
          <a:ext cx="4748030" cy="1942664"/>
        </p:xfrm>
        <a:graphic>
          <a:graphicData uri="http://schemas.openxmlformats.org/drawingml/2006/table">
            <a:tbl>
              <a:tblPr firstRow="1" firstCol="1" bandRow="1"/>
              <a:tblGrid>
                <a:gridCol w="1796704">
                  <a:extLst>
                    <a:ext uri="{9D8B030D-6E8A-4147-A177-3AD203B41FA5}">
                      <a16:colId xmlns:a16="http://schemas.microsoft.com/office/drawing/2014/main" val="4175174682"/>
                    </a:ext>
                  </a:extLst>
                </a:gridCol>
                <a:gridCol w="1368480">
                  <a:extLst>
                    <a:ext uri="{9D8B030D-6E8A-4147-A177-3AD203B41FA5}">
                      <a16:colId xmlns:a16="http://schemas.microsoft.com/office/drawing/2014/main" val="3893166047"/>
                    </a:ext>
                  </a:extLst>
                </a:gridCol>
                <a:gridCol w="1582846">
                  <a:extLst>
                    <a:ext uri="{9D8B030D-6E8A-4147-A177-3AD203B41FA5}">
                      <a16:colId xmlns:a16="http://schemas.microsoft.com/office/drawing/2014/main" val="3452211142"/>
                    </a:ext>
                  </a:extLst>
                </a:gridCol>
              </a:tblGrid>
              <a:tr h="452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6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6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6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329067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admin_name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admin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66937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admin_email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admin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019818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admin_password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of admin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329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F4E9B9-8550-C507-8869-05DE12BE3902}"/>
              </a:ext>
            </a:extLst>
          </p:cNvPr>
          <p:cNvSpPr txBox="1"/>
          <p:nvPr/>
        </p:nvSpPr>
        <p:spPr>
          <a:xfrm>
            <a:off x="1145279" y="1278139"/>
            <a:ext cx="3298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admin_id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EC5A5-F150-3C9B-9F5C-1B20F69126CE}"/>
              </a:ext>
            </a:extLst>
          </p:cNvPr>
          <p:cNvSpPr txBox="1"/>
          <p:nvPr/>
        </p:nvSpPr>
        <p:spPr>
          <a:xfrm>
            <a:off x="6567280" y="124736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tbl_district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district_id</a:t>
            </a:r>
            <a:endParaRPr lang="en-IN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B6FE83C-AD29-B576-85DC-2E0CA132B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549161"/>
              </p:ext>
            </p:extLst>
          </p:nvPr>
        </p:nvGraphicFramePr>
        <p:xfrm>
          <a:off x="1145279" y="5253415"/>
          <a:ext cx="4748030" cy="906223"/>
        </p:xfrm>
        <a:graphic>
          <a:graphicData uri="http://schemas.openxmlformats.org/drawingml/2006/table">
            <a:tbl>
              <a:tblPr firstRow="1" firstCol="1" bandRow="1"/>
              <a:tblGrid>
                <a:gridCol w="1582338">
                  <a:extLst>
                    <a:ext uri="{9D8B030D-6E8A-4147-A177-3AD203B41FA5}">
                      <a16:colId xmlns:a16="http://schemas.microsoft.com/office/drawing/2014/main" val="4142216413"/>
                    </a:ext>
                  </a:extLst>
                </a:gridCol>
                <a:gridCol w="1582846">
                  <a:extLst>
                    <a:ext uri="{9D8B030D-6E8A-4147-A177-3AD203B41FA5}">
                      <a16:colId xmlns:a16="http://schemas.microsoft.com/office/drawing/2014/main" val="1246538532"/>
                    </a:ext>
                  </a:extLst>
                </a:gridCol>
                <a:gridCol w="1582846">
                  <a:extLst>
                    <a:ext uri="{9D8B030D-6E8A-4147-A177-3AD203B41FA5}">
                      <a16:colId xmlns:a16="http://schemas.microsoft.com/office/drawing/2014/main" val="2548227049"/>
                    </a:ext>
                  </a:extLst>
                </a:gridCol>
              </a:tblGrid>
              <a:tr h="45299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4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018578"/>
                  </a:ext>
                </a:extLst>
              </a:tr>
              <a:tr h="45322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place_name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Place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44552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3E2B472-3F71-04F0-FDB0-A3A35801ACDA}"/>
              </a:ext>
            </a:extLst>
          </p:cNvPr>
          <p:cNvSpPr txBox="1"/>
          <p:nvPr/>
        </p:nvSpPr>
        <p:spPr>
          <a:xfrm>
            <a:off x="1347970" y="4333504"/>
            <a:ext cx="30959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place_id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district_id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4CFDEFC-F008-C574-A033-4D91C10A5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55415"/>
              </p:ext>
            </p:extLst>
          </p:nvPr>
        </p:nvGraphicFramePr>
        <p:xfrm>
          <a:off x="6567280" y="5267224"/>
          <a:ext cx="5110789" cy="906223"/>
        </p:xfrm>
        <a:graphic>
          <a:graphicData uri="http://schemas.openxmlformats.org/drawingml/2006/table">
            <a:tbl>
              <a:tblPr firstRow="1" firstCol="1" bandRow="1"/>
              <a:tblGrid>
                <a:gridCol w="1703231">
                  <a:extLst>
                    <a:ext uri="{9D8B030D-6E8A-4147-A177-3AD203B41FA5}">
                      <a16:colId xmlns:a16="http://schemas.microsoft.com/office/drawing/2014/main" val="2671086505"/>
                    </a:ext>
                  </a:extLst>
                </a:gridCol>
                <a:gridCol w="1527242">
                  <a:extLst>
                    <a:ext uri="{9D8B030D-6E8A-4147-A177-3AD203B41FA5}">
                      <a16:colId xmlns:a16="http://schemas.microsoft.com/office/drawing/2014/main" val="3215139189"/>
                    </a:ext>
                  </a:extLst>
                </a:gridCol>
                <a:gridCol w="1880316">
                  <a:extLst>
                    <a:ext uri="{9D8B030D-6E8A-4147-A177-3AD203B41FA5}">
                      <a16:colId xmlns:a16="http://schemas.microsoft.com/office/drawing/2014/main" val="4237724640"/>
                    </a:ext>
                  </a:extLst>
                </a:gridCol>
              </a:tblGrid>
              <a:tr h="45299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99452"/>
                  </a:ext>
                </a:extLst>
              </a:tr>
              <a:tr h="45322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category_name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category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34345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F03A60C-2D06-3356-817B-ECCE28BCAB47}"/>
              </a:ext>
            </a:extLst>
          </p:cNvPr>
          <p:cNvSpPr txBox="1"/>
          <p:nvPr/>
        </p:nvSpPr>
        <p:spPr>
          <a:xfrm>
            <a:off x="6674196" y="4472003"/>
            <a:ext cx="3274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category_id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88F517A-A719-A50D-2380-495EDC7F6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654552"/>
              </p:ext>
            </p:extLst>
          </p:nvPr>
        </p:nvGraphicFramePr>
        <p:xfrm>
          <a:off x="6567280" y="1996772"/>
          <a:ext cx="4902582" cy="906223"/>
        </p:xfrm>
        <a:graphic>
          <a:graphicData uri="http://schemas.openxmlformats.org/drawingml/2006/table">
            <a:tbl>
              <a:tblPr firstRow="1" firstCol="1" bandRow="1"/>
              <a:tblGrid>
                <a:gridCol w="1633844">
                  <a:extLst>
                    <a:ext uri="{9D8B030D-6E8A-4147-A177-3AD203B41FA5}">
                      <a16:colId xmlns:a16="http://schemas.microsoft.com/office/drawing/2014/main" val="2878420848"/>
                    </a:ext>
                  </a:extLst>
                </a:gridCol>
                <a:gridCol w="1634369">
                  <a:extLst>
                    <a:ext uri="{9D8B030D-6E8A-4147-A177-3AD203B41FA5}">
                      <a16:colId xmlns:a16="http://schemas.microsoft.com/office/drawing/2014/main" val="271173578"/>
                    </a:ext>
                  </a:extLst>
                </a:gridCol>
                <a:gridCol w="1634369">
                  <a:extLst>
                    <a:ext uri="{9D8B030D-6E8A-4147-A177-3AD203B41FA5}">
                      <a16:colId xmlns:a16="http://schemas.microsoft.com/office/drawing/2014/main" val="3823864236"/>
                    </a:ext>
                  </a:extLst>
                </a:gridCol>
              </a:tblGrid>
              <a:tr h="45299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14970"/>
                  </a:ext>
                </a:extLst>
              </a:tr>
              <a:tr h="45322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district_name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district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484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45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DFBACF-B24A-734C-26F6-498F2863F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872770"/>
              </p:ext>
            </p:extLst>
          </p:nvPr>
        </p:nvGraphicFramePr>
        <p:xfrm>
          <a:off x="967410" y="1331629"/>
          <a:ext cx="5128590" cy="4333890"/>
        </p:xfrm>
        <a:graphic>
          <a:graphicData uri="http://schemas.openxmlformats.org/drawingml/2006/table">
            <a:tbl>
              <a:tblPr firstRow="1" firstCol="1" bandRow="1"/>
              <a:tblGrid>
                <a:gridCol w="1709164">
                  <a:extLst>
                    <a:ext uri="{9D8B030D-6E8A-4147-A177-3AD203B41FA5}">
                      <a16:colId xmlns:a16="http://schemas.microsoft.com/office/drawing/2014/main" val="1633243151"/>
                    </a:ext>
                  </a:extLst>
                </a:gridCol>
                <a:gridCol w="1709713">
                  <a:extLst>
                    <a:ext uri="{9D8B030D-6E8A-4147-A177-3AD203B41FA5}">
                      <a16:colId xmlns:a16="http://schemas.microsoft.com/office/drawing/2014/main" val="40368607"/>
                    </a:ext>
                  </a:extLst>
                </a:gridCol>
                <a:gridCol w="1709713">
                  <a:extLst>
                    <a:ext uri="{9D8B030D-6E8A-4147-A177-3AD203B41FA5}">
                      <a16:colId xmlns:a16="http://schemas.microsoft.com/office/drawing/2014/main" val="10316861"/>
                    </a:ext>
                  </a:extLst>
                </a:gridCol>
              </a:tblGrid>
              <a:tr h="4813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ctr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6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4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64320"/>
                  </a:ext>
                </a:extLst>
              </a:tr>
              <a:tr h="4815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user_name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895125"/>
                  </a:ext>
                </a:extLst>
              </a:tr>
              <a:tr h="4815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Varchar(50)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of user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646264"/>
                  </a:ext>
                </a:extLst>
              </a:tr>
              <a:tr h="4815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email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user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776732"/>
                  </a:ext>
                </a:extLst>
              </a:tr>
              <a:tr h="4815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password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of user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488213"/>
                  </a:ext>
                </a:extLst>
              </a:tr>
              <a:tr h="4815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of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009563"/>
                  </a:ext>
                </a:extLst>
              </a:tr>
              <a:tr h="4815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of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296427"/>
                  </a:ext>
                </a:extLst>
              </a:tr>
              <a:tr h="4815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user_p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hoto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Photo of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065936"/>
                  </a:ext>
                </a:extLst>
              </a:tr>
              <a:tr h="4815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proof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Varchar(50)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Proof of user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3236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1BF3FC2-41EB-C041-34A2-456E40A354E1}"/>
              </a:ext>
            </a:extLst>
          </p:cNvPr>
          <p:cNvSpPr txBox="1"/>
          <p:nvPr/>
        </p:nvSpPr>
        <p:spPr>
          <a:xfrm>
            <a:off x="1617593" y="269151"/>
            <a:ext cx="3471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user_id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place_id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E10349-A20A-C67A-2B65-1FE0B863E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14469"/>
              </p:ext>
            </p:extLst>
          </p:nvPr>
        </p:nvGraphicFramePr>
        <p:xfrm>
          <a:off x="6477828" y="1182327"/>
          <a:ext cx="5279537" cy="5267255"/>
        </p:xfrm>
        <a:graphic>
          <a:graphicData uri="http://schemas.openxmlformats.org/drawingml/2006/table">
            <a:tbl>
              <a:tblPr firstRow="1" firstCol="1" bandRow="1"/>
              <a:tblGrid>
                <a:gridCol w="1829820">
                  <a:extLst>
                    <a:ext uri="{9D8B030D-6E8A-4147-A177-3AD203B41FA5}">
                      <a16:colId xmlns:a16="http://schemas.microsoft.com/office/drawing/2014/main" val="2542635461"/>
                    </a:ext>
                  </a:extLst>
                </a:gridCol>
                <a:gridCol w="1372439">
                  <a:extLst>
                    <a:ext uri="{9D8B030D-6E8A-4147-A177-3AD203B41FA5}">
                      <a16:colId xmlns:a16="http://schemas.microsoft.com/office/drawing/2014/main" val="3783781246"/>
                    </a:ext>
                  </a:extLst>
                </a:gridCol>
                <a:gridCol w="2077278">
                  <a:extLst>
                    <a:ext uri="{9D8B030D-6E8A-4147-A177-3AD203B41FA5}">
                      <a16:colId xmlns:a16="http://schemas.microsoft.com/office/drawing/2014/main" val="3020181769"/>
                    </a:ext>
                  </a:extLst>
                </a:gridCol>
              </a:tblGrid>
              <a:tr h="5397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ctr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6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247163"/>
                  </a:ext>
                </a:extLst>
              </a:tr>
              <a:tr h="50174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center_name</a:t>
                      </a:r>
                      <a:endParaRPr lang="en-US" sz="18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376202"/>
                  </a:ext>
                </a:extLst>
              </a:tr>
              <a:tr h="693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email</a:t>
                      </a:r>
                      <a:endParaRPr lang="en-US" sz="18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83221"/>
                  </a:ext>
                </a:extLst>
              </a:tr>
              <a:tr h="693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password</a:t>
                      </a:r>
                      <a:endParaRPr lang="en-US" sz="18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of 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229072"/>
                  </a:ext>
                </a:extLst>
              </a:tr>
              <a:tr h="6939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Varchar(50)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of 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379404"/>
                  </a:ext>
                </a:extLst>
              </a:tr>
              <a:tr h="693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center_c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ontact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of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328982"/>
                  </a:ext>
                </a:extLst>
              </a:tr>
              <a:tr h="693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center_p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hoto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Photo of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363919"/>
                  </a:ext>
                </a:extLst>
              </a:tr>
              <a:tr h="693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center_p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roof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Proof of center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6182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A3A7A0A-68B0-5745-5297-D74A24977F44}"/>
              </a:ext>
            </a:extLst>
          </p:cNvPr>
          <p:cNvSpPr txBox="1"/>
          <p:nvPr/>
        </p:nvSpPr>
        <p:spPr>
          <a:xfrm>
            <a:off x="6477828" y="239644"/>
            <a:ext cx="3371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tbl_center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center_id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place_id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51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A26EB6-D4BE-47F3-0A81-56FC44030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26155"/>
              </p:ext>
            </p:extLst>
          </p:nvPr>
        </p:nvGraphicFramePr>
        <p:xfrm>
          <a:off x="1285980" y="1400186"/>
          <a:ext cx="4902155" cy="906223"/>
        </p:xfrm>
        <a:graphic>
          <a:graphicData uri="http://schemas.openxmlformats.org/drawingml/2006/table">
            <a:tbl>
              <a:tblPr firstRow="1" firstCol="1" bandRow="1"/>
              <a:tblGrid>
                <a:gridCol w="1500808">
                  <a:extLst>
                    <a:ext uri="{9D8B030D-6E8A-4147-A177-3AD203B41FA5}">
                      <a16:colId xmlns:a16="http://schemas.microsoft.com/office/drawing/2014/main" val="3579164358"/>
                    </a:ext>
                  </a:extLst>
                </a:gridCol>
                <a:gridCol w="1580321">
                  <a:extLst>
                    <a:ext uri="{9D8B030D-6E8A-4147-A177-3AD203B41FA5}">
                      <a16:colId xmlns:a16="http://schemas.microsoft.com/office/drawing/2014/main" val="3980045614"/>
                    </a:ext>
                  </a:extLst>
                </a:gridCol>
                <a:gridCol w="1821026">
                  <a:extLst>
                    <a:ext uri="{9D8B030D-6E8A-4147-A177-3AD203B41FA5}">
                      <a16:colId xmlns:a16="http://schemas.microsoft.com/office/drawing/2014/main" val="19260285"/>
                    </a:ext>
                  </a:extLst>
                </a:gridCol>
              </a:tblGrid>
              <a:tr h="45299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488699"/>
                  </a:ext>
                </a:extLst>
              </a:tr>
              <a:tr h="45322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vaccine_name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vaccine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1237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160194E-6672-9377-7B0B-0A9DF74F3EF2}"/>
              </a:ext>
            </a:extLst>
          </p:cNvPr>
          <p:cNvSpPr txBox="1"/>
          <p:nvPr/>
        </p:nvSpPr>
        <p:spPr>
          <a:xfrm>
            <a:off x="1545576" y="337439"/>
            <a:ext cx="3335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tbl_vaccine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vaccine_id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category_id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1AF80D-8AAC-58C4-B1CE-FA5E4BBF1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650328"/>
              </p:ext>
            </p:extLst>
          </p:nvPr>
        </p:nvGraphicFramePr>
        <p:xfrm>
          <a:off x="6830841" y="1400186"/>
          <a:ext cx="4309427" cy="1468119"/>
        </p:xfrm>
        <a:graphic>
          <a:graphicData uri="http://schemas.openxmlformats.org/drawingml/2006/table">
            <a:tbl>
              <a:tblPr firstRow="1" firstCol="1" bandRow="1"/>
              <a:tblGrid>
                <a:gridCol w="1755957">
                  <a:extLst>
                    <a:ext uri="{9D8B030D-6E8A-4147-A177-3AD203B41FA5}">
                      <a16:colId xmlns:a16="http://schemas.microsoft.com/office/drawing/2014/main" val="3779657942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203894109"/>
                    </a:ext>
                  </a:extLst>
                </a:gridCol>
                <a:gridCol w="1293630">
                  <a:extLst>
                    <a:ext uri="{9D8B030D-6E8A-4147-A177-3AD203B41FA5}">
                      <a16:colId xmlns:a16="http://schemas.microsoft.com/office/drawing/2014/main" val="3325847156"/>
                    </a:ext>
                  </a:extLst>
                </a:gridCol>
              </a:tblGrid>
              <a:tr h="64232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08806"/>
                  </a:ext>
                </a:extLst>
              </a:tr>
              <a:tr h="82579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hospitalvaccine_amount</a:t>
                      </a:r>
                      <a:endParaRPr lang="en-US" sz="16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of vaccine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4960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215925-2316-8D65-DE33-6419DF7BFF1C}"/>
              </a:ext>
            </a:extLst>
          </p:cNvPr>
          <p:cNvSpPr txBox="1"/>
          <p:nvPr/>
        </p:nvSpPr>
        <p:spPr>
          <a:xfrm>
            <a:off x="6830841" y="348373"/>
            <a:ext cx="38155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tbl_hospitalvaccine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hospitalvaccine_id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vaccine_id,center_id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47C7BF-F362-8FB2-A1C1-4BFE55783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88857"/>
              </p:ext>
            </p:extLst>
          </p:nvPr>
        </p:nvGraphicFramePr>
        <p:xfrm>
          <a:off x="1440105" y="4443507"/>
          <a:ext cx="4748030" cy="1907921"/>
        </p:xfrm>
        <a:graphic>
          <a:graphicData uri="http://schemas.openxmlformats.org/drawingml/2006/table">
            <a:tbl>
              <a:tblPr firstRow="1" firstCol="1" bandRow="1"/>
              <a:tblGrid>
                <a:gridCol w="1582338">
                  <a:extLst>
                    <a:ext uri="{9D8B030D-6E8A-4147-A177-3AD203B41FA5}">
                      <a16:colId xmlns:a16="http://schemas.microsoft.com/office/drawing/2014/main" val="2993156834"/>
                    </a:ext>
                  </a:extLst>
                </a:gridCol>
                <a:gridCol w="1582846">
                  <a:extLst>
                    <a:ext uri="{9D8B030D-6E8A-4147-A177-3AD203B41FA5}">
                      <a16:colId xmlns:a16="http://schemas.microsoft.com/office/drawing/2014/main" val="946859068"/>
                    </a:ext>
                  </a:extLst>
                </a:gridCol>
                <a:gridCol w="1582846">
                  <a:extLst>
                    <a:ext uri="{9D8B030D-6E8A-4147-A177-3AD203B41FA5}">
                      <a16:colId xmlns:a16="http://schemas.microsoft.com/office/drawing/2014/main" val="3013824234"/>
                    </a:ext>
                  </a:extLst>
                </a:gridCol>
              </a:tblGrid>
              <a:tr h="452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793555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slot_from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of timeslot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344474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slot_to</a:t>
                      </a:r>
                      <a:endParaRPr lang="en-US" sz="18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of timeslot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222403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slot_count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number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4854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1C6BCAA-9D4B-FFEC-4E5A-6D07026031F6}"/>
              </a:ext>
            </a:extLst>
          </p:cNvPr>
          <p:cNvSpPr txBox="1"/>
          <p:nvPr/>
        </p:nvSpPr>
        <p:spPr>
          <a:xfrm>
            <a:off x="1545576" y="3429000"/>
            <a:ext cx="31816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tbl_slot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slot_id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center_id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CD6344-0ED1-7475-BD98-1898CD023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69167"/>
              </p:ext>
            </p:extLst>
          </p:nvPr>
        </p:nvGraphicFramePr>
        <p:xfrm>
          <a:off x="6758921" y="4338816"/>
          <a:ext cx="4748030" cy="2003389"/>
        </p:xfrm>
        <a:graphic>
          <a:graphicData uri="http://schemas.openxmlformats.org/drawingml/2006/table">
            <a:tbl>
              <a:tblPr firstRow="1" firstCol="1" bandRow="1"/>
              <a:tblGrid>
                <a:gridCol w="1629705">
                  <a:extLst>
                    <a:ext uri="{9D8B030D-6E8A-4147-A177-3AD203B41FA5}">
                      <a16:colId xmlns:a16="http://schemas.microsoft.com/office/drawing/2014/main" val="2907959453"/>
                    </a:ext>
                  </a:extLst>
                </a:gridCol>
                <a:gridCol w="1535479">
                  <a:extLst>
                    <a:ext uri="{9D8B030D-6E8A-4147-A177-3AD203B41FA5}">
                      <a16:colId xmlns:a16="http://schemas.microsoft.com/office/drawing/2014/main" val="2934193865"/>
                    </a:ext>
                  </a:extLst>
                </a:gridCol>
                <a:gridCol w="1582846">
                  <a:extLst>
                    <a:ext uri="{9D8B030D-6E8A-4147-A177-3AD203B41FA5}">
                      <a16:colId xmlns:a16="http://schemas.microsoft.com/office/drawing/2014/main" val="3893226318"/>
                    </a:ext>
                  </a:extLst>
                </a:gridCol>
              </a:tblGrid>
              <a:tr h="452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49982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booking_date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of booking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0566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booking_slot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of booking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432422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booking_status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 of booking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402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A5269CC-6C08-B386-10F1-7D8EA7760A7B}"/>
              </a:ext>
            </a:extLst>
          </p:cNvPr>
          <p:cNvSpPr txBox="1"/>
          <p:nvPr/>
        </p:nvSpPr>
        <p:spPr>
          <a:xfrm>
            <a:off x="6758921" y="3319669"/>
            <a:ext cx="4453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tbl_booking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booking_id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user_id,slot_id</a:t>
            </a:r>
          </a:p>
        </p:txBody>
      </p:sp>
    </p:spTree>
    <p:extLst>
      <p:ext uri="{BB962C8B-B14F-4D97-AF65-F5344CB8AC3E}">
        <p14:creationId xmlns:p14="http://schemas.microsoft.com/office/powerpoint/2010/main" val="2243609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E1BCDD-1F3D-267F-C9E6-021F431E4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48633"/>
              </p:ext>
            </p:extLst>
          </p:nvPr>
        </p:nvGraphicFramePr>
        <p:xfrm>
          <a:off x="648146" y="2550160"/>
          <a:ext cx="5043671" cy="2247710"/>
        </p:xfrm>
        <a:graphic>
          <a:graphicData uri="http://schemas.openxmlformats.org/drawingml/2006/table">
            <a:tbl>
              <a:tblPr firstRow="1" firstCol="1" bandRow="1"/>
              <a:tblGrid>
                <a:gridCol w="1769934">
                  <a:extLst>
                    <a:ext uri="{9D8B030D-6E8A-4147-A177-3AD203B41FA5}">
                      <a16:colId xmlns:a16="http://schemas.microsoft.com/office/drawing/2014/main" val="899557232"/>
                    </a:ext>
                  </a:extLst>
                </a:gridCol>
                <a:gridCol w="1503865">
                  <a:extLst>
                    <a:ext uri="{9D8B030D-6E8A-4147-A177-3AD203B41FA5}">
                      <a16:colId xmlns:a16="http://schemas.microsoft.com/office/drawing/2014/main" val="855365568"/>
                    </a:ext>
                  </a:extLst>
                </a:gridCol>
                <a:gridCol w="1769872">
                  <a:extLst>
                    <a:ext uri="{9D8B030D-6E8A-4147-A177-3AD203B41FA5}">
                      <a16:colId xmlns:a16="http://schemas.microsoft.com/office/drawing/2014/main" val="3248920602"/>
                    </a:ext>
                  </a:extLst>
                </a:gridCol>
              </a:tblGrid>
              <a:tr h="452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4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234375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review_comment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review content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353155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review_count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review count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724327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review_date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date of review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154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024FBE4-FFBB-B550-A43E-9735020D1374}"/>
              </a:ext>
            </a:extLst>
          </p:cNvPr>
          <p:cNvSpPr txBox="1"/>
          <p:nvPr/>
        </p:nvSpPr>
        <p:spPr>
          <a:xfrm>
            <a:off x="1052329" y="1468735"/>
            <a:ext cx="3905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review_id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user_id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AD26B6-2C0A-CD24-4FAA-7D5A947EF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501718"/>
              </p:ext>
            </p:extLst>
          </p:nvPr>
        </p:nvGraphicFramePr>
        <p:xfrm>
          <a:off x="6197600" y="2550160"/>
          <a:ext cx="5193853" cy="3196137"/>
        </p:xfrm>
        <a:graphic>
          <a:graphicData uri="http://schemas.openxmlformats.org/drawingml/2006/table">
            <a:tbl>
              <a:tblPr firstRow="1" firstCol="1" bandRow="1"/>
              <a:tblGrid>
                <a:gridCol w="1900201">
                  <a:extLst>
                    <a:ext uri="{9D8B030D-6E8A-4147-A177-3AD203B41FA5}">
                      <a16:colId xmlns:a16="http://schemas.microsoft.com/office/drawing/2014/main" val="1921161677"/>
                    </a:ext>
                  </a:extLst>
                </a:gridCol>
                <a:gridCol w="1646826">
                  <a:extLst>
                    <a:ext uri="{9D8B030D-6E8A-4147-A177-3AD203B41FA5}">
                      <a16:colId xmlns:a16="http://schemas.microsoft.com/office/drawing/2014/main" val="303775011"/>
                    </a:ext>
                  </a:extLst>
                </a:gridCol>
                <a:gridCol w="1646826">
                  <a:extLst>
                    <a:ext uri="{9D8B030D-6E8A-4147-A177-3AD203B41FA5}">
                      <a16:colId xmlns:a16="http://schemas.microsoft.com/office/drawing/2014/main" val="2230826013"/>
                    </a:ext>
                  </a:extLst>
                </a:gridCol>
              </a:tblGrid>
              <a:tr h="452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Field</a:t>
                      </a:r>
                      <a:r>
                        <a:rPr lang="en-US" sz="1400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12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="1" u="none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type and size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b="1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66274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complaint_title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complaint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411151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complaint_content</a:t>
                      </a:r>
                      <a:endParaRPr lang="en-US" sz="1800" b="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 of complaint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53364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complaint_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Reply to complaint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43659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complaint_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 of complaint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941340"/>
                  </a:ext>
                </a:extLst>
              </a:tr>
              <a:tr h="45317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complaint_</a:t>
                      </a:r>
                      <a:r>
                        <a:rPr lang="en-US" sz="1800" b="0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Varchar(50)</a:t>
                      </a:r>
                      <a:endParaRPr lang="en-US" sz="16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of complaint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C9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7298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7F7DCCA-C8B7-05E5-2323-C1C4B6636C2F}"/>
              </a:ext>
            </a:extLst>
          </p:cNvPr>
          <p:cNvSpPr txBox="1"/>
          <p:nvPr/>
        </p:nvSpPr>
        <p:spPr>
          <a:xfrm>
            <a:off x="6197600" y="1468735"/>
            <a:ext cx="3905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tbl_complaint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complaint_id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Key: user_id,center_id</a:t>
            </a:r>
          </a:p>
        </p:txBody>
      </p:sp>
    </p:spTree>
    <p:extLst>
      <p:ext uri="{BB962C8B-B14F-4D97-AF65-F5344CB8AC3E}">
        <p14:creationId xmlns:p14="http://schemas.microsoft.com/office/powerpoint/2010/main" val="401917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DAD4-0B7C-AC9F-57CF-10C66440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086" y="473995"/>
            <a:ext cx="3170383" cy="757429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LOGIN PAGE</a:t>
            </a:r>
            <a:endParaRPr lang="en-IN" b="1" i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22CA4-D24C-EF4C-97C9-87B80F821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9" t="11305" r="10245" b="11884"/>
          <a:stretch/>
        </p:blipFill>
        <p:spPr>
          <a:xfrm>
            <a:off x="1640156" y="1480713"/>
            <a:ext cx="8340589" cy="4524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3450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638E-294D-B27B-B157-682599CA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07" y="465084"/>
            <a:ext cx="4851484" cy="777307"/>
          </a:xfrm>
        </p:spPr>
        <p:txBody>
          <a:bodyPr/>
          <a:lstStyle/>
          <a:p>
            <a:r>
              <a:rPr lang="en-US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REGISTRATION</a:t>
            </a:r>
            <a:endParaRPr lang="en-IN" b="1" i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ECDF4-210A-16F4-6F40-83E56EB1B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4" t="10870" r="14669" b="5072"/>
          <a:stretch/>
        </p:blipFill>
        <p:spPr>
          <a:xfrm>
            <a:off x="368040" y="1868557"/>
            <a:ext cx="5406355" cy="3935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72518A-EC62-868C-7429-8C5C78BCA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1" t="11884" r="15399" b="6781"/>
          <a:stretch/>
        </p:blipFill>
        <p:spPr>
          <a:xfrm>
            <a:off x="6189006" y="1779104"/>
            <a:ext cx="5529229" cy="4025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778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6990-1181-8EDA-A1E2-377945AE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98" y="514780"/>
            <a:ext cx="5805641" cy="787247"/>
          </a:xfrm>
        </p:spPr>
        <p:txBody>
          <a:bodyPr/>
          <a:lstStyle/>
          <a:p>
            <a:r>
              <a:rPr lang="en-US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HOSPITAL REGISTRATION</a:t>
            </a:r>
            <a:endParaRPr lang="en-IN" b="1" i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D18D1-5BAA-6405-912D-01D4C2C2E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7" t="11450" r="10897" b="7507"/>
          <a:stretch/>
        </p:blipFill>
        <p:spPr>
          <a:xfrm>
            <a:off x="477079" y="1856560"/>
            <a:ext cx="5211417" cy="3818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62C3F0-2E70-CE69-F35E-28AB4BC9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6" t="10724" r="11874" b="7507"/>
          <a:stretch/>
        </p:blipFill>
        <p:spPr>
          <a:xfrm>
            <a:off x="6178867" y="1856560"/>
            <a:ext cx="5536054" cy="3818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8913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CA94-DFC5-5068-E903-C008C3C7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190" y="2494722"/>
            <a:ext cx="7583557" cy="121741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>
            <a:normAutofit fontScale="90000"/>
          </a:bodyPr>
          <a:lstStyle/>
          <a:p>
            <a:pPr algn="r"/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</a:rPr>
              <a:t>THANK YOU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</a:rPr>
              <a:t>…</a:t>
            </a:r>
            <a:endParaRPr lang="e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169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697</TotalTime>
  <Words>1025</Words>
  <Application>Microsoft Office PowerPoint</Application>
  <PresentationFormat>Widescreen</PresentationFormat>
  <Paragraphs>248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Britannic Bold</vt:lpstr>
      <vt:lpstr>Century Gothic</vt:lpstr>
      <vt:lpstr>Script MT Bold</vt:lpstr>
      <vt:lpstr>Symbol</vt:lpstr>
      <vt:lpstr>Times New Roman</vt:lpstr>
      <vt:lpstr>Wingdings</vt:lpstr>
      <vt:lpstr>Wingdings 3</vt:lpstr>
      <vt:lpstr>Wisp</vt:lpstr>
      <vt:lpstr>MINIPROJECT VACCINE ON TIME</vt:lpstr>
      <vt:lpstr>INTRODUCTION</vt:lpstr>
      <vt:lpstr>PowerPoint Presentation</vt:lpstr>
      <vt:lpstr>OBJECTIVES</vt:lpstr>
      <vt:lpstr>TOOLS USED</vt:lpstr>
      <vt:lpstr>MODULES</vt:lpstr>
      <vt:lpstr>PowerPoint Presentation</vt:lpstr>
      <vt:lpstr>PowerPoint Presentation</vt:lpstr>
      <vt:lpstr>TABLE DESIGN</vt:lpstr>
      <vt:lpstr>PowerPoint Presentation</vt:lpstr>
      <vt:lpstr>PowerPoint Presentation</vt:lpstr>
      <vt:lpstr>PowerPoint Presentation</vt:lpstr>
      <vt:lpstr>LOGIN PAGE</vt:lpstr>
      <vt:lpstr>USER REGISTRATION</vt:lpstr>
      <vt:lpstr>HOSPITAL REGISTRATION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Unni KM</dc:creator>
  <cp:lastModifiedBy>Unni KM</cp:lastModifiedBy>
  <cp:revision>11</cp:revision>
  <dcterms:created xsi:type="dcterms:W3CDTF">2024-08-18T09:58:12Z</dcterms:created>
  <dcterms:modified xsi:type="dcterms:W3CDTF">2024-09-25T20:22:07Z</dcterms:modified>
</cp:coreProperties>
</file>